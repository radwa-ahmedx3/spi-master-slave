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80" r:id="rId13"/>
    <p:sldId id="266" r:id="rId14"/>
    <p:sldId id="279" r:id="rId15"/>
    <p:sldId id="281" r:id="rId16"/>
    <p:sldId id="282" r:id="rId17"/>
    <p:sldId id="283" r:id="rId18"/>
    <p:sldId id="284" r:id="rId19"/>
    <p:sldId id="285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80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1282" y="929767"/>
            <a:ext cx="8199755" cy="920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69750" y="2563096"/>
            <a:ext cx="14052550" cy="5242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35230" rIns="0" bIns="0" rtlCol="0">
            <a:spAutoFit/>
          </a:bodyPr>
          <a:lstStyle/>
          <a:p>
            <a:pPr marL="173355" algn="ctr">
              <a:lnSpc>
                <a:spcPct val="100000"/>
              </a:lnSpc>
              <a:spcBef>
                <a:spcPts val="100"/>
              </a:spcBef>
            </a:pPr>
            <a:r>
              <a:rPr spc="-775" dirty="0"/>
              <a:t>SPI</a:t>
            </a:r>
            <a:r>
              <a:rPr spc="-455" dirty="0"/>
              <a:t> </a:t>
            </a:r>
            <a:r>
              <a:rPr spc="-160" dirty="0"/>
              <a:t>Master/Slave</a:t>
            </a:r>
          </a:p>
          <a:p>
            <a:pPr marL="173355" algn="ctr">
              <a:lnSpc>
                <a:spcPct val="100000"/>
              </a:lnSpc>
              <a:spcBef>
                <a:spcPts val="5950"/>
              </a:spcBef>
            </a:pPr>
            <a:r>
              <a:rPr sz="3250" dirty="0"/>
              <a:t>SUPERVISED</a:t>
            </a:r>
            <a:r>
              <a:rPr sz="3250" spc="685" dirty="0"/>
              <a:t> </a:t>
            </a:r>
            <a:r>
              <a:rPr sz="3250" spc="-25" dirty="0"/>
              <a:t>BY</a:t>
            </a:r>
            <a:endParaRPr sz="3250" dirty="0"/>
          </a:p>
          <a:p>
            <a:pPr marL="173355" algn="ctr">
              <a:lnSpc>
                <a:spcPct val="100000"/>
              </a:lnSpc>
              <a:spcBef>
                <a:spcPts val="645"/>
              </a:spcBef>
            </a:pPr>
            <a:r>
              <a:rPr sz="3250" spc="140" dirty="0"/>
              <a:t>ENG.</a:t>
            </a:r>
            <a:r>
              <a:rPr sz="3250" spc="390" dirty="0"/>
              <a:t> </a:t>
            </a:r>
            <a:r>
              <a:rPr sz="3250" spc="135" dirty="0"/>
              <a:t>AHMED</a:t>
            </a:r>
            <a:r>
              <a:rPr sz="3250" spc="405" dirty="0"/>
              <a:t> </a:t>
            </a:r>
            <a:r>
              <a:rPr sz="3250" spc="60" dirty="0"/>
              <a:t>ALHUSSIENY</a:t>
            </a:r>
            <a:endParaRPr sz="3250" dirty="0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43579" y="1522003"/>
            <a:ext cx="71202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0" dirty="0">
                <a:latin typeface="Arial MT"/>
                <a:cs typeface="Arial MT"/>
              </a:rPr>
              <a:t>National</a:t>
            </a:r>
            <a:r>
              <a:rPr sz="3400" b="0" spc="-140" dirty="0">
                <a:latin typeface="Arial MT"/>
                <a:cs typeface="Arial MT"/>
              </a:rPr>
              <a:t> </a:t>
            </a:r>
            <a:r>
              <a:rPr sz="3400" b="0" spc="-10" dirty="0">
                <a:latin typeface="Arial MT"/>
                <a:cs typeface="Arial MT"/>
              </a:rPr>
              <a:t>Telecommunication</a:t>
            </a:r>
            <a:r>
              <a:rPr sz="3400" b="0" spc="-140" dirty="0">
                <a:latin typeface="Arial MT"/>
                <a:cs typeface="Arial MT"/>
              </a:rPr>
              <a:t> </a:t>
            </a:r>
            <a:r>
              <a:rPr sz="3400" b="0" spc="40" dirty="0">
                <a:latin typeface="Arial MT"/>
                <a:cs typeface="Arial MT"/>
              </a:rPr>
              <a:t>institute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63811" y="1522003"/>
            <a:ext cx="53581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latin typeface="Arial MT"/>
                <a:cs typeface="Arial MT"/>
              </a:rPr>
              <a:t>IC</a:t>
            </a:r>
            <a:r>
              <a:rPr sz="3400" spc="-75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digital</a:t>
            </a:r>
            <a:r>
              <a:rPr sz="3400" spc="-70" dirty="0">
                <a:latin typeface="Arial MT"/>
                <a:cs typeface="Arial MT"/>
              </a:rPr>
              <a:t> design </a:t>
            </a:r>
            <a:r>
              <a:rPr sz="3400" spc="-55" dirty="0">
                <a:latin typeface="Arial MT"/>
                <a:cs typeface="Arial MT"/>
              </a:rPr>
              <a:t>using</a:t>
            </a:r>
            <a:r>
              <a:rPr sz="3400" spc="-75" dirty="0">
                <a:latin typeface="Arial MT"/>
                <a:cs typeface="Arial MT"/>
              </a:rPr>
              <a:t> </a:t>
            </a:r>
            <a:r>
              <a:rPr sz="3400" spc="-110" dirty="0">
                <a:latin typeface="Arial MT"/>
                <a:cs typeface="Arial MT"/>
              </a:rPr>
              <a:t>FPGA</a:t>
            </a:r>
            <a:endParaRPr sz="3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20079" y="1445199"/>
            <a:ext cx="804799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spc="-370" dirty="0"/>
              <a:t>Team</a:t>
            </a:r>
            <a:r>
              <a:rPr sz="9200" spc="-350" dirty="0"/>
              <a:t> </a:t>
            </a:r>
            <a:r>
              <a:rPr sz="9200" spc="-434" dirty="0"/>
              <a:t>members</a:t>
            </a:r>
            <a:endParaRPr sz="9200"/>
          </a:p>
        </p:txBody>
      </p:sp>
      <p:sp>
        <p:nvSpPr>
          <p:cNvPr id="4" name="object 4"/>
          <p:cNvSpPr txBox="1"/>
          <p:nvPr/>
        </p:nvSpPr>
        <p:spPr>
          <a:xfrm>
            <a:off x="2878427" y="3978023"/>
            <a:ext cx="5323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" dirty="0">
                <a:latin typeface="Arial MT"/>
                <a:cs typeface="Arial MT"/>
              </a:rPr>
              <a:t>Esther</a:t>
            </a:r>
            <a:r>
              <a:rPr sz="3600" spc="-170" dirty="0">
                <a:latin typeface="Arial MT"/>
                <a:cs typeface="Arial MT"/>
              </a:rPr>
              <a:t> </a:t>
            </a:r>
            <a:r>
              <a:rPr sz="3600" spc="-85" dirty="0">
                <a:latin typeface="Arial MT"/>
                <a:cs typeface="Arial MT"/>
              </a:rPr>
              <a:t>George</a:t>
            </a:r>
            <a:r>
              <a:rPr sz="3600" spc="-130" dirty="0">
                <a:latin typeface="Arial MT"/>
                <a:cs typeface="Arial MT"/>
              </a:rPr>
              <a:t> </a:t>
            </a:r>
            <a:r>
              <a:rPr sz="3600" spc="-155" dirty="0">
                <a:latin typeface="Arial MT"/>
                <a:cs typeface="Arial MT"/>
              </a:rPr>
              <a:t>Fayez</a:t>
            </a:r>
            <a:r>
              <a:rPr sz="3600" spc="-95" dirty="0">
                <a:latin typeface="Arial MT"/>
                <a:cs typeface="Arial MT"/>
              </a:rPr>
              <a:t> </a:t>
            </a:r>
            <a:r>
              <a:rPr sz="3600" spc="-20" dirty="0">
                <a:latin typeface="Arial MT"/>
                <a:cs typeface="Arial MT"/>
              </a:rPr>
              <a:t>Abdo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1308" y="3978023"/>
            <a:ext cx="2668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4510" algn="l"/>
              </a:tabLst>
            </a:pPr>
            <a:r>
              <a:rPr sz="3600" spc="120" dirty="0">
                <a:latin typeface="Arial MT"/>
                <a:cs typeface="Arial MT"/>
              </a:rPr>
              <a:t>:</a:t>
            </a:r>
            <a:r>
              <a:rPr sz="3600" dirty="0">
                <a:latin typeface="Arial MT"/>
                <a:cs typeface="Arial MT"/>
              </a:rPr>
              <a:t>	</a:t>
            </a:r>
            <a:r>
              <a:rPr sz="3600" spc="-275" dirty="0">
                <a:latin typeface="Arial MT"/>
                <a:cs typeface="Arial MT"/>
              </a:rPr>
              <a:t>SPI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Master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8427" y="5661504"/>
            <a:ext cx="5474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25" dirty="0">
                <a:latin typeface="Arial MT"/>
                <a:cs typeface="Arial MT"/>
              </a:rPr>
              <a:t>Eyad</a:t>
            </a:r>
            <a:r>
              <a:rPr sz="3600" spc="-7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Khalid</a:t>
            </a:r>
            <a:r>
              <a:rPr sz="3600" spc="-7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Mabrouk</a:t>
            </a:r>
            <a:r>
              <a:rPr sz="3600" spc="-75" dirty="0">
                <a:latin typeface="Arial MT"/>
                <a:cs typeface="Arial MT"/>
              </a:rPr>
              <a:t> </a:t>
            </a:r>
            <a:r>
              <a:rPr sz="3600" spc="-40" dirty="0">
                <a:latin typeface="Arial MT"/>
                <a:cs typeface="Arial MT"/>
              </a:rPr>
              <a:t>Noah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51818" y="5661504"/>
            <a:ext cx="2328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4510" algn="l"/>
              </a:tabLst>
            </a:pPr>
            <a:r>
              <a:rPr sz="3600" spc="120" dirty="0">
                <a:latin typeface="Arial MT"/>
                <a:cs typeface="Arial MT"/>
              </a:rPr>
              <a:t>:</a:t>
            </a:r>
            <a:r>
              <a:rPr sz="3600" dirty="0">
                <a:latin typeface="Arial MT"/>
                <a:cs typeface="Arial MT"/>
              </a:rPr>
              <a:t>	</a:t>
            </a:r>
            <a:r>
              <a:rPr sz="3600" spc="-275" dirty="0">
                <a:latin typeface="Arial MT"/>
                <a:cs typeface="Arial MT"/>
              </a:rPr>
              <a:t>SPI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spc="-165" dirty="0">
                <a:latin typeface="Arial MT"/>
                <a:cs typeface="Arial MT"/>
              </a:rPr>
              <a:t>Slave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8427" y="7344985"/>
            <a:ext cx="11577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10" dirty="0">
                <a:latin typeface="Arial MT"/>
                <a:cs typeface="Arial MT"/>
              </a:rPr>
              <a:t>Radwa</a:t>
            </a:r>
            <a:r>
              <a:rPr sz="3600" spc="-50" dirty="0">
                <a:latin typeface="Arial MT"/>
                <a:cs typeface="Arial MT"/>
              </a:rPr>
              <a:t> </a:t>
            </a:r>
            <a:r>
              <a:rPr sz="3600" spc="-45" dirty="0">
                <a:latin typeface="Arial MT"/>
                <a:cs typeface="Arial MT"/>
              </a:rPr>
              <a:t>Ahmed</a:t>
            </a:r>
            <a:r>
              <a:rPr sz="3600" spc="-125" dirty="0">
                <a:latin typeface="Arial MT"/>
                <a:cs typeface="Arial MT"/>
              </a:rPr>
              <a:t> </a:t>
            </a:r>
            <a:r>
              <a:rPr sz="3600" spc="-45" dirty="0">
                <a:latin typeface="Arial MT"/>
                <a:cs typeface="Arial MT"/>
              </a:rPr>
              <a:t>Abd-</a:t>
            </a:r>
            <a:r>
              <a:rPr sz="3600" spc="-10" dirty="0">
                <a:latin typeface="Arial MT"/>
                <a:cs typeface="Arial MT"/>
              </a:rPr>
              <a:t>Elsatar</a:t>
            </a:r>
            <a:r>
              <a:rPr sz="3600" spc="-9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Ali</a:t>
            </a:r>
            <a:r>
              <a:rPr sz="3600" spc="830" dirty="0">
                <a:latin typeface="Arial MT"/>
                <a:cs typeface="Arial MT"/>
              </a:rPr>
              <a:t> </a:t>
            </a:r>
            <a:r>
              <a:rPr sz="3600" spc="170" dirty="0">
                <a:latin typeface="Arial MT"/>
                <a:cs typeface="Arial MT"/>
              </a:rPr>
              <a:t>:</a:t>
            </a:r>
            <a:r>
              <a:rPr sz="3600" spc="82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Integration</a:t>
            </a:r>
            <a:r>
              <a:rPr sz="3600" spc="-8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&amp;</a:t>
            </a:r>
            <a:r>
              <a:rPr sz="3600" spc="-9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Verification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54459" y="2753226"/>
              <a:ext cx="7105649" cy="54387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2318" y="5613809"/>
              <a:ext cx="104775" cy="104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2318" y="6109109"/>
              <a:ext cx="104775" cy="1047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2318" y="6604409"/>
              <a:ext cx="104775" cy="104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2318" y="7099709"/>
              <a:ext cx="104775" cy="1047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2318" y="7595009"/>
              <a:ext cx="104775" cy="1047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35768" y="3357648"/>
            <a:ext cx="8479790" cy="497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800" spc="-210" dirty="0">
                <a:latin typeface="Arial MT"/>
                <a:cs typeface="Arial MT"/>
              </a:rPr>
              <a:t>SPI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(Serial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Peripheral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Interface)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synchronous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serial </a:t>
            </a:r>
            <a:r>
              <a:rPr sz="2800" dirty="0">
                <a:latin typeface="Arial MT"/>
                <a:cs typeface="Arial MT"/>
              </a:rPr>
              <a:t>communication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protocol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used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90" dirty="0">
                <a:latin typeface="Arial MT"/>
                <a:cs typeface="Arial MT"/>
              </a:rPr>
              <a:t>for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high-</a:t>
            </a:r>
            <a:r>
              <a:rPr sz="2800" spc="-95" dirty="0">
                <a:latin typeface="Arial MT"/>
                <a:cs typeface="Arial MT"/>
              </a:rPr>
              <a:t>speed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data </a:t>
            </a:r>
            <a:r>
              <a:rPr sz="2800" spc="-100" dirty="0">
                <a:latin typeface="Arial MT"/>
                <a:cs typeface="Arial MT"/>
              </a:rPr>
              <a:t>exchange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35" dirty="0">
                <a:latin typeface="Arial MT"/>
                <a:cs typeface="Arial MT"/>
              </a:rPr>
              <a:t>between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digital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devices.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800" spc="-10" dirty="0">
                <a:latin typeface="Arial MT"/>
                <a:cs typeface="Arial MT"/>
              </a:rPr>
              <a:t>Features</a:t>
            </a:r>
            <a:endParaRPr sz="2800">
              <a:latin typeface="Arial MT"/>
              <a:cs typeface="Arial MT"/>
            </a:endParaRPr>
          </a:p>
          <a:p>
            <a:pPr marL="616585">
              <a:lnSpc>
                <a:spcPct val="100000"/>
              </a:lnSpc>
              <a:spcBef>
                <a:spcPts val="540"/>
              </a:spcBef>
            </a:pPr>
            <a:r>
              <a:rPr sz="2800" spc="70" dirty="0">
                <a:latin typeface="Arial MT"/>
                <a:cs typeface="Arial MT"/>
              </a:rPr>
              <a:t>Full-</a:t>
            </a:r>
            <a:r>
              <a:rPr sz="2800" spc="-10" dirty="0">
                <a:latin typeface="Arial MT"/>
                <a:cs typeface="Arial MT"/>
              </a:rPr>
              <a:t>duplex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communication</a:t>
            </a:r>
            <a:endParaRPr sz="2800">
              <a:latin typeface="Arial MT"/>
              <a:cs typeface="Arial MT"/>
            </a:endParaRPr>
          </a:p>
          <a:p>
            <a:pPr marL="616585" marR="2315210">
              <a:lnSpc>
                <a:spcPct val="116100"/>
              </a:lnSpc>
            </a:pPr>
            <a:r>
              <a:rPr sz="2800" dirty="0">
                <a:latin typeface="Arial MT"/>
                <a:cs typeface="Arial MT"/>
              </a:rPr>
              <a:t>Master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controls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communication </a:t>
            </a:r>
            <a:r>
              <a:rPr sz="2800" dirty="0">
                <a:latin typeface="Arial MT"/>
                <a:cs typeface="Arial MT"/>
              </a:rPr>
              <a:t>High-</a:t>
            </a:r>
            <a:r>
              <a:rPr sz="2800" spc="-95" dirty="0">
                <a:latin typeface="Arial MT"/>
                <a:cs typeface="Arial MT"/>
              </a:rPr>
              <a:t>speed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synchronous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protocol </a:t>
            </a:r>
            <a:r>
              <a:rPr sz="2800" spc="-45" dirty="0">
                <a:latin typeface="Arial MT"/>
                <a:cs typeface="Arial MT"/>
              </a:rPr>
              <a:t>Simple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hardware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interface</a:t>
            </a:r>
            <a:endParaRPr sz="2800">
              <a:latin typeface="Arial MT"/>
              <a:cs typeface="Arial MT"/>
            </a:endParaRPr>
          </a:p>
          <a:p>
            <a:pPr marL="616585" marR="1522730">
              <a:lnSpc>
                <a:spcPct val="116100"/>
              </a:lnSpc>
            </a:pPr>
            <a:r>
              <a:rPr sz="2800" dirty="0">
                <a:latin typeface="Arial MT"/>
                <a:cs typeface="Arial MT"/>
              </a:rPr>
              <a:t>Widely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used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sensors,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memories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spc="-10" dirty="0">
                <a:latin typeface="Arial MT"/>
                <a:cs typeface="Arial MT"/>
              </a:rPr>
              <a:t>ADC/DACs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096545" y="1676500"/>
            <a:ext cx="648970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dirty="0"/>
              <a:t>What</a:t>
            </a:r>
            <a:r>
              <a:rPr sz="9200" spc="-550" dirty="0"/>
              <a:t> </a:t>
            </a:r>
            <a:r>
              <a:rPr sz="9200" spc="-630" dirty="0"/>
              <a:t>is</a:t>
            </a:r>
            <a:r>
              <a:rPr sz="9200" spc="-350" dirty="0"/>
              <a:t> </a:t>
            </a:r>
            <a:r>
              <a:rPr sz="9200" spc="-760" dirty="0"/>
              <a:t>SPI?</a:t>
            </a:r>
            <a:endParaRPr sz="9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09712" y="1767703"/>
              <a:ext cx="0" cy="2557780"/>
            </a:xfrm>
            <a:custGeom>
              <a:avLst/>
              <a:gdLst/>
              <a:ahLst/>
              <a:cxnLst/>
              <a:rect l="l" t="t" r="r" b="b"/>
              <a:pathLst>
                <a:path h="2557779">
                  <a:moveTo>
                    <a:pt x="0" y="0"/>
                  </a:moveTo>
                  <a:lnTo>
                    <a:pt x="0" y="255778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52659" y="4195629"/>
              <a:ext cx="8829674" cy="45148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7069" y="6212746"/>
              <a:ext cx="5534024" cy="13049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88655" y="1627422"/>
            <a:ext cx="3955415" cy="2589530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12700" marR="5080">
              <a:lnSpc>
                <a:spcPts val="9150"/>
              </a:lnSpc>
              <a:spcBef>
                <a:spcPts val="1980"/>
              </a:spcBef>
            </a:pPr>
            <a:r>
              <a:rPr sz="9200" b="1" spc="-615" dirty="0">
                <a:latin typeface="Arial"/>
                <a:cs typeface="Arial"/>
              </a:rPr>
              <a:t>SPI </a:t>
            </a:r>
            <a:r>
              <a:rPr sz="9200" b="1" spc="-405" dirty="0">
                <a:latin typeface="Arial"/>
                <a:cs typeface="Arial"/>
              </a:rPr>
              <a:t>FRAME</a:t>
            </a:r>
            <a:endParaRPr sz="9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561743" y="1989308"/>
            <a:ext cx="104775" cy="1590675"/>
            <a:chOff x="7561743" y="1989308"/>
            <a:chExt cx="104775" cy="15906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1743" y="1989308"/>
              <a:ext cx="104775" cy="1047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1743" y="2484608"/>
              <a:ext cx="104775" cy="104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1743" y="2979908"/>
              <a:ext cx="104775" cy="1047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1743" y="3475208"/>
              <a:ext cx="104775" cy="104774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829584" y="1714347"/>
            <a:ext cx="6934200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60015">
              <a:lnSpc>
                <a:spcPct val="116100"/>
              </a:lnSpc>
              <a:spcBef>
                <a:spcPts val="100"/>
              </a:spcBef>
            </a:pPr>
            <a:r>
              <a:rPr sz="2800" b="0" spc="-80" dirty="0">
                <a:latin typeface="Arial MT"/>
                <a:cs typeface="Arial MT"/>
              </a:rPr>
              <a:t>MOSI</a:t>
            </a:r>
            <a:r>
              <a:rPr sz="2800" b="0" spc="-114" dirty="0">
                <a:latin typeface="Arial MT"/>
                <a:cs typeface="Arial MT"/>
              </a:rPr>
              <a:t> </a:t>
            </a:r>
            <a:r>
              <a:rPr sz="2800" b="0" spc="-175" dirty="0">
                <a:latin typeface="Arial MT"/>
                <a:cs typeface="Arial MT"/>
              </a:rPr>
              <a:t>–</a:t>
            </a:r>
            <a:r>
              <a:rPr sz="2800" b="0" spc="-40" dirty="0">
                <a:latin typeface="Arial MT"/>
                <a:cs typeface="Arial MT"/>
              </a:rPr>
              <a:t> </a:t>
            </a:r>
            <a:r>
              <a:rPr sz="2800" b="0" spc="-20" dirty="0">
                <a:latin typeface="Arial MT"/>
                <a:cs typeface="Arial MT"/>
              </a:rPr>
              <a:t>Master</a:t>
            </a:r>
            <a:r>
              <a:rPr sz="2800" b="0" spc="-12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Out</a:t>
            </a:r>
            <a:r>
              <a:rPr sz="2800" b="0" spc="-80" dirty="0">
                <a:latin typeface="Arial MT"/>
                <a:cs typeface="Arial MT"/>
              </a:rPr>
              <a:t> </a:t>
            </a:r>
            <a:r>
              <a:rPr sz="2800" b="0" spc="-145" dirty="0">
                <a:latin typeface="Arial MT"/>
                <a:cs typeface="Arial MT"/>
              </a:rPr>
              <a:t>Slave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spc="-25" dirty="0">
                <a:latin typeface="Arial MT"/>
                <a:cs typeface="Arial MT"/>
              </a:rPr>
              <a:t>In </a:t>
            </a:r>
            <a:r>
              <a:rPr sz="2800" b="0" spc="-80" dirty="0">
                <a:latin typeface="Arial MT"/>
                <a:cs typeface="Arial MT"/>
              </a:rPr>
              <a:t>MISO</a:t>
            </a:r>
            <a:r>
              <a:rPr sz="2800" b="0" spc="-114" dirty="0">
                <a:latin typeface="Arial MT"/>
                <a:cs typeface="Arial MT"/>
              </a:rPr>
              <a:t> </a:t>
            </a:r>
            <a:r>
              <a:rPr sz="2800" b="0" spc="-175" dirty="0">
                <a:latin typeface="Arial MT"/>
                <a:cs typeface="Arial MT"/>
              </a:rPr>
              <a:t>–</a:t>
            </a:r>
            <a:r>
              <a:rPr sz="2800" b="0" spc="-40" dirty="0">
                <a:latin typeface="Arial MT"/>
                <a:cs typeface="Arial MT"/>
              </a:rPr>
              <a:t> </a:t>
            </a:r>
            <a:r>
              <a:rPr sz="2800" b="0" spc="-20" dirty="0">
                <a:latin typeface="Arial MT"/>
                <a:cs typeface="Arial MT"/>
              </a:rPr>
              <a:t>Master</a:t>
            </a:r>
            <a:r>
              <a:rPr sz="2800" b="0" spc="-12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In</a:t>
            </a:r>
            <a:r>
              <a:rPr sz="2800" b="0" spc="-80" dirty="0">
                <a:latin typeface="Arial MT"/>
                <a:cs typeface="Arial MT"/>
              </a:rPr>
              <a:t> </a:t>
            </a:r>
            <a:r>
              <a:rPr sz="2800" b="0" spc="-145" dirty="0">
                <a:latin typeface="Arial MT"/>
                <a:cs typeface="Arial MT"/>
              </a:rPr>
              <a:t>Slave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spc="-25" dirty="0">
                <a:latin typeface="Arial MT"/>
                <a:cs typeface="Arial MT"/>
              </a:rPr>
              <a:t>Out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ct val="116100"/>
              </a:lnSpc>
            </a:pPr>
            <a:r>
              <a:rPr sz="2800" b="0" spc="-130" dirty="0">
                <a:latin typeface="Arial MT"/>
                <a:cs typeface="Arial MT"/>
              </a:rPr>
              <a:t>SCLK</a:t>
            </a:r>
            <a:r>
              <a:rPr sz="2800" b="0" spc="-65" dirty="0">
                <a:latin typeface="Arial MT"/>
                <a:cs typeface="Arial MT"/>
              </a:rPr>
              <a:t> </a:t>
            </a:r>
            <a:r>
              <a:rPr sz="2800" b="0" spc="-175" dirty="0">
                <a:latin typeface="Arial MT"/>
                <a:cs typeface="Arial MT"/>
              </a:rPr>
              <a:t>–</a:t>
            </a:r>
            <a:r>
              <a:rPr sz="2800" b="0" spc="-40" dirty="0">
                <a:latin typeface="Arial MT"/>
                <a:cs typeface="Arial MT"/>
              </a:rPr>
              <a:t> </a:t>
            </a:r>
            <a:r>
              <a:rPr sz="2800" b="0" spc="-65" dirty="0">
                <a:latin typeface="Arial MT"/>
                <a:cs typeface="Arial MT"/>
              </a:rPr>
              <a:t>Serial</a:t>
            </a:r>
            <a:r>
              <a:rPr sz="2800" b="0" spc="-13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Clock</a:t>
            </a:r>
            <a:r>
              <a:rPr sz="2800" b="0" spc="-125" dirty="0">
                <a:latin typeface="Arial MT"/>
                <a:cs typeface="Arial MT"/>
              </a:rPr>
              <a:t> </a:t>
            </a:r>
            <a:r>
              <a:rPr sz="2800" b="0" spc="-70" dirty="0">
                <a:latin typeface="Arial MT"/>
                <a:cs typeface="Arial MT"/>
              </a:rPr>
              <a:t>generated</a:t>
            </a:r>
            <a:r>
              <a:rPr sz="2800" b="0" spc="-85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by</a:t>
            </a:r>
            <a:r>
              <a:rPr sz="2800" b="0" spc="-9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the</a:t>
            </a:r>
            <a:r>
              <a:rPr sz="2800" b="0" spc="-90" dirty="0">
                <a:latin typeface="Arial MT"/>
                <a:cs typeface="Arial MT"/>
              </a:rPr>
              <a:t> </a:t>
            </a:r>
            <a:r>
              <a:rPr sz="2800" b="0" spc="-10" dirty="0">
                <a:latin typeface="Arial MT"/>
                <a:cs typeface="Arial MT"/>
              </a:rPr>
              <a:t>master </a:t>
            </a:r>
            <a:r>
              <a:rPr sz="2800" b="0" spc="-235" dirty="0">
                <a:latin typeface="Arial MT"/>
                <a:cs typeface="Arial MT"/>
              </a:rPr>
              <a:t>CS</a:t>
            </a:r>
            <a:r>
              <a:rPr sz="2800" b="0" spc="-40" dirty="0">
                <a:latin typeface="Arial MT"/>
                <a:cs typeface="Arial MT"/>
              </a:rPr>
              <a:t> </a:t>
            </a:r>
            <a:r>
              <a:rPr sz="2800" b="0" spc="-175" dirty="0">
                <a:latin typeface="Arial MT"/>
                <a:cs typeface="Arial MT"/>
              </a:rPr>
              <a:t>–</a:t>
            </a:r>
            <a:r>
              <a:rPr sz="2800" b="0" spc="-4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Chip</a:t>
            </a:r>
            <a:r>
              <a:rPr sz="2800" b="0" spc="-170" dirty="0">
                <a:latin typeface="Arial MT"/>
                <a:cs typeface="Arial MT"/>
              </a:rPr>
              <a:t> </a:t>
            </a:r>
            <a:r>
              <a:rPr sz="2800" b="0" spc="-80" dirty="0">
                <a:latin typeface="Arial MT"/>
                <a:cs typeface="Arial MT"/>
              </a:rPr>
              <a:t>Select</a:t>
            </a:r>
            <a:r>
              <a:rPr sz="2800" b="0" spc="-85" dirty="0">
                <a:latin typeface="Arial MT"/>
                <a:cs typeface="Arial MT"/>
              </a:rPr>
              <a:t> </a:t>
            </a:r>
            <a:r>
              <a:rPr sz="2800" b="0" spc="-70" dirty="0">
                <a:latin typeface="Arial MT"/>
                <a:cs typeface="Arial MT"/>
              </a:rPr>
              <a:t>(active</a:t>
            </a:r>
            <a:r>
              <a:rPr sz="2800" b="0" spc="-85" dirty="0">
                <a:latin typeface="Arial MT"/>
                <a:cs typeface="Arial MT"/>
              </a:rPr>
              <a:t> </a:t>
            </a:r>
            <a:r>
              <a:rPr sz="2800" b="0" spc="-20" dirty="0">
                <a:latin typeface="Arial MT"/>
                <a:cs typeface="Arial MT"/>
              </a:rPr>
              <a:t>low)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9085" y="1917891"/>
            <a:ext cx="9220199" cy="595312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21282" y="929767"/>
            <a:ext cx="3477260" cy="920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380" dirty="0"/>
              <a:t>SPI</a:t>
            </a:r>
            <a:r>
              <a:rPr spc="-210" dirty="0"/>
              <a:t> </a:t>
            </a:r>
            <a:r>
              <a:rPr spc="-204" dirty="0"/>
              <a:t>Modes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36385" y="8282552"/>
            <a:ext cx="92671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dirty="0">
                <a:latin typeface="Arial"/>
                <a:cs typeface="Arial"/>
              </a:rPr>
              <a:t>Our project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spc="-85" dirty="0">
                <a:latin typeface="Arial"/>
                <a:cs typeface="Arial"/>
              </a:rPr>
              <a:t>uses</a:t>
            </a:r>
            <a:r>
              <a:rPr sz="2100" i="1" dirty="0">
                <a:latin typeface="Arial"/>
                <a:cs typeface="Arial"/>
              </a:rPr>
              <a:t> mode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0 but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spc="95" dirty="0">
                <a:latin typeface="Arial"/>
                <a:cs typeface="Arial"/>
              </a:rPr>
              <a:t>it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can be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spc="-20" dirty="0">
                <a:latin typeface="Arial"/>
                <a:cs typeface="Arial"/>
              </a:rPr>
              <a:t>developed</a:t>
            </a:r>
            <a:r>
              <a:rPr sz="2100" i="1" dirty="0">
                <a:latin typeface="Arial"/>
                <a:cs typeface="Arial"/>
              </a:rPr>
              <a:t> </a:t>
            </a:r>
            <a:r>
              <a:rPr sz="2100" i="1" spc="60" dirty="0">
                <a:latin typeface="Arial"/>
                <a:cs typeface="Arial"/>
              </a:rPr>
              <a:t>to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support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the other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3 </a:t>
            </a:r>
            <a:r>
              <a:rPr sz="2100" i="1" spc="-10" dirty="0">
                <a:latin typeface="Arial"/>
                <a:cs typeface="Arial"/>
              </a:rPr>
              <a:t>modes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9779" y="2095499"/>
            <a:ext cx="12534899" cy="67532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380" dirty="0"/>
              <a:t>SPI</a:t>
            </a:r>
            <a:r>
              <a:rPr spc="-210" dirty="0"/>
              <a:t> </a:t>
            </a:r>
            <a:r>
              <a:rPr spc="-225" dirty="0"/>
              <a:t>Timing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01461" y="1986009"/>
          <a:ext cx="7687308" cy="7251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3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3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1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10" dirty="0">
                          <a:latin typeface="Arial Black"/>
                          <a:cs typeface="Arial Black"/>
                        </a:rPr>
                        <a:t>Feature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10" dirty="0">
                          <a:latin typeface="Arial Black"/>
                          <a:cs typeface="Arial Black"/>
                        </a:rPr>
                        <a:t>Value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65" dirty="0">
                          <a:latin typeface="Arial Black"/>
                          <a:cs typeface="Arial Black"/>
                        </a:rPr>
                        <a:t>DATA_WIDTH</a:t>
                      </a:r>
                      <a:endParaRPr sz="2200" dirty="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70" dirty="0">
                          <a:latin typeface="Arial Black"/>
                          <a:cs typeface="Arial Black"/>
                        </a:rPr>
                        <a:t>Parameterized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20" dirty="0">
                          <a:latin typeface="Arial Black"/>
                          <a:cs typeface="Arial Black"/>
                        </a:rPr>
                        <a:t>MODE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70" dirty="0">
                          <a:latin typeface="Arial Black"/>
                          <a:cs typeface="Arial Black"/>
                        </a:rPr>
                        <a:t>Parameterized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50" dirty="0">
                          <a:latin typeface="Arial Black"/>
                          <a:cs typeface="Arial Black"/>
                        </a:rPr>
                        <a:t>CLK_DIV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70" dirty="0">
                          <a:latin typeface="Arial Black"/>
                          <a:cs typeface="Arial Black"/>
                        </a:rPr>
                        <a:t>Parameterized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90" dirty="0">
                          <a:latin typeface="Arial Black"/>
                          <a:cs typeface="Arial Black"/>
                        </a:rPr>
                        <a:t>MSB_FIRST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70" dirty="0">
                          <a:latin typeface="Arial Black"/>
                          <a:cs typeface="Arial Black"/>
                        </a:rPr>
                        <a:t>Parameterized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25" dirty="0">
                          <a:latin typeface="Arial Black"/>
                          <a:cs typeface="Arial Black"/>
                        </a:rPr>
                        <a:t>FSM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110" dirty="0">
                          <a:latin typeface="Arial Black"/>
                          <a:cs typeface="Arial Black"/>
                        </a:rPr>
                        <a:t>4</a:t>
                      </a:r>
                      <a:r>
                        <a:rPr sz="2200" spc="-21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200" spc="-10" dirty="0">
                          <a:latin typeface="Arial Black"/>
                          <a:cs typeface="Arial Black"/>
                        </a:rPr>
                        <a:t>States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70" dirty="0">
                          <a:latin typeface="Arial Black"/>
                          <a:cs typeface="Arial Black"/>
                        </a:rPr>
                        <a:t>Synthesizable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280" dirty="0">
                          <a:latin typeface="Arial Black"/>
                          <a:cs typeface="Arial Black"/>
                        </a:rPr>
                        <a:t>Yes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130" dirty="0">
                          <a:latin typeface="Arial Black"/>
                          <a:cs typeface="Arial Black"/>
                        </a:rPr>
                        <a:t>Continuous</a:t>
                      </a:r>
                      <a:r>
                        <a:rPr sz="2200" spc="-1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200" spc="-65" dirty="0">
                          <a:latin typeface="Arial Black"/>
                          <a:cs typeface="Arial Black"/>
                        </a:rPr>
                        <a:t>Assignment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20" dirty="0">
                          <a:latin typeface="Arial Black"/>
                          <a:cs typeface="Arial Black"/>
                        </a:rPr>
                        <a:t>MOSI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110" dirty="0">
                          <a:latin typeface="Arial Black"/>
                          <a:cs typeface="Arial Black"/>
                        </a:rPr>
                        <a:t>Shift</a:t>
                      </a:r>
                      <a:r>
                        <a:rPr sz="2200" spc="-18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200" spc="-70" dirty="0">
                          <a:latin typeface="Arial Black"/>
                          <a:cs typeface="Arial Black"/>
                        </a:rPr>
                        <a:t>Registers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295" dirty="0">
                          <a:latin typeface="Arial Black"/>
                          <a:cs typeface="Arial Black"/>
                        </a:rPr>
                        <a:t>TX</a:t>
                      </a:r>
                      <a:r>
                        <a:rPr sz="2200" spc="-20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200" spc="-130" dirty="0"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2200" spc="-19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200" spc="-305" dirty="0">
                          <a:latin typeface="Arial Black"/>
                          <a:cs typeface="Arial Black"/>
                        </a:rPr>
                        <a:t>RX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185" dirty="0">
                          <a:latin typeface="Arial Black"/>
                          <a:cs typeface="Arial Black"/>
                        </a:rPr>
                        <a:t>Clock</a:t>
                      </a:r>
                      <a:r>
                        <a:rPr sz="2200" spc="-17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200" spc="-10" dirty="0">
                          <a:latin typeface="Arial Black"/>
                          <a:cs typeface="Arial Black"/>
                        </a:rPr>
                        <a:t>Divider</a:t>
                      </a:r>
                      <a:endParaRPr sz="220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200" spc="-280" dirty="0">
                          <a:latin typeface="Arial Black"/>
                          <a:cs typeface="Arial Black"/>
                        </a:rPr>
                        <a:t>Yes</a:t>
                      </a:r>
                      <a:endParaRPr sz="2200" dirty="0">
                        <a:latin typeface="Arial Black"/>
                        <a:cs typeface="Arial Black"/>
                      </a:endParaRPr>
                    </a:p>
                  </a:txBody>
                  <a:tcPr marL="0" marR="0" marT="187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90" dirty="0"/>
              <a:t>Master</a:t>
            </a:r>
            <a:r>
              <a:rPr spc="-295" dirty="0"/>
              <a:t> </a:t>
            </a:r>
            <a:r>
              <a:rPr spc="-265" dirty="0"/>
              <a:t>Specifications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4967" y="1476538"/>
            <a:ext cx="8334374" cy="7248524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22075" y="3785946"/>
          <a:ext cx="6602730" cy="4005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1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486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000" spc="-10" dirty="0">
                          <a:latin typeface="Arial Black"/>
                          <a:cs typeface="Arial Black"/>
                        </a:rPr>
                        <a:t>State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2317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000" spc="-10" dirty="0">
                          <a:latin typeface="Arial Black"/>
                          <a:cs typeface="Arial Black"/>
                        </a:rPr>
                        <a:t>Function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2317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000" spc="-20" dirty="0">
                          <a:latin typeface="Arial Black"/>
                          <a:cs typeface="Arial Black"/>
                        </a:rPr>
                        <a:t>IDLE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2317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000" spc="-135" dirty="0">
                          <a:latin typeface="Arial Black"/>
                          <a:cs typeface="Arial Black"/>
                        </a:rPr>
                        <a:t>Wait</a:t>
                      </a:r>
                      <a:r>
                        <a:rPr sz="2000" spc="-17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55" dirty="0">
                          <a:latin typeface="Arial Black"/>
                          <a:cs typeface="Arial Black"/>
                        </a:rPr>
                        <a:t>for</a:t>
                      </a:r>
                      <a:r>
                        <a:rPr sz="2000" spc="-17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130" dirty="0">
                          <a:latin typeface="Arial Black"/>
                          <a:cs typeface="Arial Black"/>
                        </a:rPr>
                        <a:t>start</a:t>
                      </a:r>
                      <a:r>
                        <a:rPr sz="2000" spc="-17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10" dirty="0">
                          <a:latin typeface="Arial Black"/>
                          <a:cs typeface="Arial Black"/>
                        </a:rPr>
                        <a:t>signal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2317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000" spc="-20" dirty="0">
                          <a:latin typeface="Arial Black"/>
                          <a:cs typeface="Arial Black"/>
                        </a:rPr>
                        <a:t>LOAD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2317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000" spc="-150" dirty="0">
                          <a:latin typeface="Arial Black"/>
                          <a:cs typeface="Arial Black"/>
                        </a:rPr>
                        <a:t>Load</a:t>
                      </a:r>
                      <a:r>
                        <a:rPr sz="2000" spc="-15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125" dirty="0">
                          <a:latin typeface="Arial Black"/>
                          <a:cs typeface="Arial Black"/>
                        </a:rPr>
                        <a:t>transmit</a:t>
                      </a:r>
                      <a:r>
                        <a:rPr sz="20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20" dirty="0">
                          <a:latin typeface="Arial Black"/>
                          <a:cs typeface="Arial Black"/>
                        </a:rPr>
                        <a:t>data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2317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000" spc="-90" dirty="0">
                          <a:latin typeface="Arial Black"/>
                          <a:cs typeface="Arial Black"/>
                        </a:rPr>
                        <a:t>TRANSFER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2317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000" spc="-100" dirty="0">
                          <a:latin typeface="Arial Black"/>
                          <a:cs typeface="Arial Black"/>
                        </a:rPr>
                        <a:t>Shift</a:t>
                      </a:r>
                      <a:r>
                        <a:rPr sz="2000" spc="-16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125" dirty="0"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2000" spc="-16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150" dirty="0">
                          <a:latin typeface="Arial Black"/>
                          <a:cs typeface="Arial Black"/>
                        </a:rPr>
                        <a:t>receive</a:t>
                      </a:r>
                      <a:r>
                        <a:rPr sz="2000" spc="-16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20" dirty="0">
                          <a:latin typeface="Arial Black"/>
                          <a:cs typeface="Arial Black"/>
                        </a:rPr>
                        <a:t>bits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2317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1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000" spc="-10" dirty="0">
                          <a:latin typeface="Arial Black"/>
                          <a:cs typeface="Arial Black"/>
                        </a:rPr>
                        <a:t>FINISH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2698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36550">
                        <a:lnSpc>
                          <a:spcPct val="118800"/>
                        </a:lnSpc>
                        <a:spcBef>
                          <a:spcPts val="250"/>
                        </a:spcBef>
                      </a:pPr>
                      <a:r>
                        <a:rPr sz="2000" spc="-185" dirty="0">
                          <a:latin typeface="Arial Black"/>
                          <a:cs typeface="Arial Black"/>
                        </a:rPr>
                        <a:t>Save</a:t>
                      </a:r>
                      <a:r>
                        <a:rPr sz="2000" spc="-15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140" dirty="0">
                          <a:latin typeface="Arial Black"/>
                          <a:cs typeface="Arial Black"/>
                        </a:rPr>
                        <a:t>received</a:t>
                      </a:r>
                      <a:r>
                        <a:rPr sz="2000" spc="-15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145" dirty="0">
                          <a:latin typeface="Arial Black"/>
                          <a:cs typeface="Arial Black"/>
                        </a:rPr>
                        <a:t>data</a:t>
                      </a:r>
                      <a:r>
                        <a:rPr sz="20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65" dirty="0">
                          <a:latin typeface="Arial Black"/>
                          <a:cs typeface="Arial Black"/>
                        </a:rPr>
                        <a:t>and </a:t>
                      </a:r>
                      <a:r>
                        <a:rPr sz="2000" spc="-114" dirty="0">
                          <a:latin typeface="Arial Black"/>
                          <a:cs typeface="Arial Black"/>
                        </a:rPr>
                        <a:t>end</a:t>
                      </a:r>
                      <a:r>
                        <a:rPr sz="2000" spc="-17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2000" spc="-10" dirty="0">
                          <a:latin typeface="Arial Black"/>
                          <a:cs typeface="Arial Black"/>
                        </a:rPr>
                        <a:t>transfer</a:t>
                      </a:r>
                      <a:endParaRPr sz="2000">
                        <a:latin typeface="Arial Black"/>
                        <a:cs typeface="Arial Black"/>
                      </a:endParaRPr>
                    </a:p>
                  </a:txBody>
                  <a:tcPr marL="0" marR="0" marT="317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21282" y="785711"/>
            <a:ext cx="6529070" cy="2101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90"/>
              </a:spcBef>
            </a:pPr>
            <a:r>
              <a:rPr spc="-90" dirty="0"/>
              <a:t>Master</a:t>
            </a:r>
            <a:r>
              <a:rPr spc="-250" dirty="0"/>
              <a:t> </a:t>
            </a:r>
            <a:r>
              <a:rPr spc="-190" dirty="0"/>
              <a:t>Algorithm</a:t>
            </a:r>
            <a:r>
              <a:rPr spc="-220" dirty="0"/>
              <a:t> </a:t>
            </a:r>
            <a:r>
              <a:rPr spc="-350" dirty="0"/>
              <a:t>&amp; </a:t>
            </a:r>
            <a:r>
              <a:rPr spc="-25" dirty="0"/>
              <a:t>FSM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59858" y="4229155"/>
          <a:ext cx="5063490" cy="2625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1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1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CLK_DIV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SCLK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145">
                <a:tc>
                  <a:txBody>
                    <a:bodyPr/>
                    <a:lstStyle/>
                    <a:p>
                      <a:pPr marR="1176655" algn="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95" dirty="0">
                          <a:latin typeface="Arial MT"/>
                          <a:cs typeface="Arial MT"/>
                        </a:rPr>
                        <a:t>clk/2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145">
                <a:tc>
                  <a:txBody>
                    <a:bodyPr/>
                    <a:lstStyle/>
                    <a:p>
                      <a:pPr marR="1174115" algn="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114" dirty="0">
                          <a:latin typeface="Arial MT"/>
                          <a:cs typeface="Arial MT"/>
                        </a:rPr>
                        <a:t>clk/4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145">
                <a:tc>
                  <a:txBody>
                    <a:bodyPr/>
                    <a:lstStyle/>
                    <a:p>
                      <a:pPr marR="1165860" algn="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55" dirty="0">
                          <a:latin typeface="Arial MT"/>
                          <a:cs typeface="Arial MT"/>
                        </a:rPr>
                        <a:t>4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114" dirty="0">
                          <a:latin typeface="Arial MT"/>
                          <a:cs typeface="Arial MT"/>
                        </a:rPr>
                        <a:t>clk/8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145">
                <a:tc>
                  <a:txBody>
                    <a:bodyPr/>
                    <a:lstStyle/>
                    <a:p>
                      <a:pPr marR="1165860" algn="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55" dirty="0">
                          <a:latin typeface="Arial MT"/>
                          <a:cs typeface="Arial MT"/>
                        </a:rPr>
                        <a:t>8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marL="82169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105" dirty="0">
                          <a:latin typeface="Arial MT"/>
                          <a:cs typeface="Arial MT"/>
                        </a:rPr>
                        <a:t>clk/16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6927338" y="1760140"/>
            <a:ext cx="9906000" cy="6060440"/>
            <a:chOff x="6927338" y="1760140"/>
            <a:chExt cx="9906000" cy="6060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6656" y="1760140"/>
              <a:ext cx="7219949" cy="23336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7338" y="5143499"/>
              <a:ext cx="9905999" cy="267652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689085" y="620389"/>
            <a:ext cx="4444365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800" spc="-200" dirty="0"/>
              <a:t>Clock</a:t>
            </a:r>
            <a:r>
              <a:rPr sz="5800" spc="-215" dirty="0"/>
              <a:t> </a:t>
            </a:r>
            <a:r>
              <a:rPr sz="5800" spc="-150" dirty="0"/>
              <a:t>Divider</a:t>
            </a:r>
            <a:endParaRPr sz="5800"/>
          </a:p>
        </p:txBody>
      </p:sp>
      <p:sp>
        <p:nvSpPr>
          <p:cNvPr id="7" name="object 7"/>
          <p:cNvSpPr txBox="1"/>
          <p:nvPr/>
        </p:nvSpPr>
        <p:spPr>
          <a:xfrm>
            <a:off x="1438973" y="3613554"/>
            <a:ext cx="10966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75" dirty="0">
                <a:latin typeface="Arial MT"/>
                <a:cs typeface="Arial MT"/>
              </a:rPr>
              <a:t>EXAMPLE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21282" y="929767"/>
            <a:ext cx="11837518" cy="7216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55700" indent="-1143000">
              <a:lnSpc>
                <a:spcPct val="100000"/>
              </a:lnSpc>
              <a:spcBef>
                <a:spcPts val="114"/>
              </a:spcBef>
              <a:buFont typeface="Wingdings" panose="05000000000000000000" pitchFamily="2" charset="2"/>
              <a:buChar char="q"/>
            </a:pPr>
            <a:r>
              <a:rPr lang="en-US" spc="-200" dirty="0"/>
              <a:t> Slave &amp; RAM</a:t>
            </a:r>
            <a:br>
              <a:rPr lang="en-US" spc="-200" dirty="0"/>
            </a:br>
            <a:br>
              <a:rPr lang="en-US" spc="-200" dirty="0"/>
            </a:br>
            <a:r>
              <a:rPr lang="en-US" spc="-200" dirty="0"/>
              <a:t>1.Block Diagram &amp;Ports</a:t>
            </a:r>
            <a:br>
              <a:rPr lang="en-US" spc="-200" dirty="0"/>
            </a:br>
            <a:r>
              <a:rPr lang="en-US" spc="-200" dirty="0"/>
              <a:t>2.RAM Size</a:t>
            </a:r>
            <a:br>
              <a:rPr lang="en-US" spc="-200" dirty="0"/>
            </a:br>
            <a:r>
              <a:rPr lang="en-US" spc="-200" dirty="0"/>
              <a:t>3.FSM</a:t>
            </a:r>
            <a:br>
              <a:rPr lang="en-US" spc="-200" dirty="0"/>
            </a:br>
            <a:r>
              <a:rPr lang="en-US" spc="-200" dirty="0"/>
              <a:t>4.Algorithm</a:t>
            </a:r>
            <a:br>
              <a:rPr lang="en-US" spc="-200" dirty="0"/>
            </a:br>
            <a:r>
              <a:rPr lang="en-US" spc="-200" dirty="0"/>
              <a:t>5.Simulation</a:t>
            </a:r>
            <a:br>
              <a:rPr lang="en-US" spc="-200" dirty="0"/>
            </a:br>
            <a:endParaRPr spc="-26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C3C07-7C76-AA04-F920-9E57A54F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 &amp; Ports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0AC8B7-2A25-B2F1-E892-34D3B50CC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247900"/>
            <a:ext cx="7848600" cy="5715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D6CF2B-49A6-69D1-77B4-8816E374A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315717"/>
              </p:ext>
            </p:extLst>
          </p:nvPr>
        </p:nvGraphicFramePr>
        <p:xfrm>
          <a:off x="9753600" y="2247900"/>
          <a:ext cx="7620000" cy="586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84276846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895437420"/>
                    </a:ext>
                  </a:extLst>
                </a:gridCol>
              </a:tblGrid>
              <a:tr h="11734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31931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miso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198693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/>
                        <a:t>rstn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839734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/>
                        <a:t>ss_n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935246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/>
                        <a:t>mosi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051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243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C9DC-F7EC-1A21-5C0A-4C42EE1E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282" y="929767"/>
            <a:ext cx="8199755" cy="3600986"/>
          </a:xfrm>
        </p:spPr>
        <p:txBody>
          <a:bodyPr/>
          <a:lstStyle/>
          <a:p>
            <a:r>
              <a:rPr lang="en-US" dirty="0"/>
              <a:t>RAM Size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Data Width = 8</a:t>
            </a:r>
            <a:br>
              <a:rPr lang="en-US" dirty="0"/>
            </a:br>
            <a:r>
              <a:rPr lang="en-US" dirty="0" err="1"/>
              <a:t>Memort</a:t>
            </a:r>
            <a:r>
              <a:rPr lang="en-US" dirty="0"/>
              <a:t> Depth = 256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37A12-02CD-EA46-7082-3BBB12299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2019300"/>
            <a:ext cx="69342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98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21282" y="929767"/>
            <a:ext cx="8199755" cy="18152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pc="-300" dirty="0"/>
              <a:t>FSM</a:t>
            </a:r>
            <a:br>
              <a:rPr lang="en-US" spc="-165" dirty="0"/>
            </a:br>
            <a:endParaRPr spc="-16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3482CA-D37C-63D3-A043-2BD68C36C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019300"/>
            <a:ext cx="8915400" cy="6781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36755D-12CA-484A-F4E6-9AE6FC0A7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0" y="2019300"/>
            <a:ext cx="49530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B46A-4587-878A-CC16-7BDBDE635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282" y="929767"/>
            <a:ext cx="8199755" cy="6301725"/>
          </a:xfrm>
        </p:spPr>
        <p:txBody>
          <a:bodyPr/>
          <a:lstStyle/>
          <a:p>
            <a:pPr algn="l"/>
            <a:r>
              <a:rPr lang="en-US" dirty="0"/>
              <a:t>Algorithm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write_addr</a:t>
            </a:r>
            <a:br>
              <a:rPr lang="en-US" dirty="0"/>
            </a:br>
            <a:r>
              <a:rPr lang="en-US" dirty="0" err="1"/>
              <a:t>write_data</a:t>
            </a:r>
            <a:br>
              <a:rPr lang="en-US" dirty="0"/>
            </a:br>
            <a:r>
              <a:rPr lang="en-US" dirty="0" err="1"/>
              <a:t>read_addr</a:t>
            </a:r>
            <a:br>
              <a:rPr lang="en-US" dirty="0"/>
            </a:br>
            <a:r>
              <a:rPr lang="en-US" dirty="0" err="1"/>
              <a:t>read_data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B86F3-2415-3C89-0BFA-D936E4064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628900"/>
            <a:ext cx="792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81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ED741-1B6B-65AC-999A-A279C2B01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282" y="929767"/>
            <a:ext cx="8199755" cy="2700739"/>
          </a:xfrm>
        </p:spPr>
        <p:txBody>
          <a:bodyPr/>
          <a:lstStyle/>
          <a:p>
            <a:r>
              <a:rPr lang="en-US" dirty="0"/>
              <a:t>Simulation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1.Write Address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A43DEA-7C7E-9CB8-52AD-6A0974191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695700"/>
            <a:ext cx="153162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84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77200-3DED-177B-41FA-0248D6CE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CAD960-9B72-EB31-2A51-E226C6213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247900"/>
            <a:ext cx="14478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45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3883-2124-A3E7-D9E8-A9057385D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BD590-B304-8EF2-1EB3-E51C4410F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636302"/>
            <a:ext cx="14630400" cy="639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73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8112-F6AB-7CDE-BF92-3AED6371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Address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17112-389C-DAFA-27CD-21EB88D04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324100"/>
            <a:ext cx="15316200" cy="662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06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E496-3DD6-C74C-65E9-D73C31E15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F314A-90AB-B5A3-0291-21BF76C93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15388"/>
            <a:ext cx="13716000" cy="560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8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54035" y="1014273"/>
              <a:ext cx="7505699" cy="21621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3982" y="4260576"/>
              <a:ext cx="8096249" cy="462914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615852" y="351821"/>
            <a:ext cx="4639310" cy="1148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350" spc="-150" dirty="0"/>
              <a:t>Integration</a:t>
            </a:r>
            <a:endParaRPr sz="7350"/>
          </a:p>
        </p:txBody>
      </p:sp>
      <p:grpSp>
        <p:nvGrpSpPr>
          <p:cNvPr id="6" name="object 6"/>
          <p:cNvGrpSpPr/>
          <p:nvPr/>
        </p:nvGrpSpPr>
        <p:grpSpPr>
          <a:xfrm>
            <a:off x="2208249" y="1952536"/>
            <a:ext cx="15052040" cy="6940550"/>
            <a:chOff x="2208249" y="1952536"/>
            <a:chExt cx="15052040" cy="694055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54035" y="3520700"/>
              <a:ext cx="7505699" cy="53720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8249" y="1952536"/>
              <a:ext cx="95250" cy="95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8249" y="2409736"/>
              <a:ext cx="95250" cy="952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8249" y="3324135"/>
              <a:ext cx="95250" cy="952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8249" y="3781335"/>
              <a:ext cx="95250" cy="952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451980" y="1691538"/>
            <a:ext cx="551053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2600" i="1" spc="-20" dirty="0">
                <a:latin typeface="Arial"/>
                <a:cs typeface="Arial"/>
              </a:rPr>
              <a:t>Check</a:t>
            </a:r>
            <a:r>
              <a:rPr sz="2600" i="1" spc="-4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the</a:t>
            </a:r>
            <a:r>
              <a:rPr sz="2600" i="1" spc="-3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parameters</a:t>
            </a:r>
            <a:r>
              <a:rPr sz="2600" i="1" spc="-40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consistency </a:t>
            </a:r>
            <a:r>
              <a:rPr sz="2600" i="1" spc="-20" dirty="0">
                <a:latin typeface="Arial"/>
                <a:cs typeface="Arial"/>
              </a:rPr>
              <a:t>Check</a:t>
            </a:r>
            <a:r>
              <a:rPr sz="2600" i="1" spc="-95" dirty="0">
                <a:latin typeface="Arial"/>
                <a:cs typeface="Arial"/>
              </a:rPr>
              <a:t> </a:t>
            </a:r>
            <a:r>
              <a:rPr sz="2600" i="1" spc="50" dirty="0">
                <a:latin typeface="Arial"/>
                <a:cs typeface="Arial"/>
              </a:rPr>
              <a:t>timing</a:t>
            </a:r>
            <a:r>
              <a:rPr sz="2600" i="1" spc="-80" dirty="0">
                <a:latin typeface="Arial"/>
                <a:cs typeface="Arial"/>
              </a:rPr>
              <a:t> </a:t>
            </a:r>
            <a:r>
              <a:rPr sz="2600" i="1" spc="-30" dirty="0">
                <a:latin typeface="Arial"/>
                <a:cs typeface="Arial"/>
              </a:rPr>
              <a:t>consistency</a:t>
            </a:r>
            <a:r>
              <a:rPr sz="2600" i="1" spc="-8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(e.g.</a:t>
            </a:r>
            <a:r>
              <a:rPr sz="2600" i="1" spc="-80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tuning </a:t>
            </a:r>
            <a:r>
              <a:rPr sz="2600" i="1" dirty="0">
                <a:latin typeface="Arial"/>
                <a:cs typeface="Arial"/>
              </a:rPr>
              <a:t>rx_valid</a:t>
            </a:r>
            <a:r>
              <a:rPr sz="2600" i="1" spc="21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with</a:t>
            </a:r>
            <a:r>
              <a:rPr sz="2600" i="1" spc="215" dirty="0">
                <a:latin typeface="Arial"/>
                <a:cs typeface="Arial"/>
              </a:rPr>
              <a:t> </a:t>
            </a:r>
            <a:r>
              <a:rPr sz="2600" i="1" spc="-20" dirty="0">
                <a:latin typeface="Arial"/>
                <a:cs typeface="Arial"/>
              </a:rPr>
              <a:t>SCLK)</a:t>
            </a:r>
            <a:endParaRPr sz="2600">
              <a:latin typeface="Arial"/>
              <a:cs typeface="Arial"/>
            </a:endParaRPr>
          </a:p>
          <a:p>
            <a:pPr marL="12700" marR="725170">
              <a:lnSpc>
                <a:spcPct val="115399"/>
              </a:lnSpc>
            </a:pPr>
            <a:r>
              <a:rPr sz="2600" i="1" spc="55" dirty="0">
                <a:latin typeface="Arial"/>
                <a:cs typeface="Arial"/>
              </a:rPr>
              <a:t>Monitor</a:t>
            </a:r>
            <a:r>
              <a:rPr sz="2600" i="1" spc="4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din</a:t>
            </a:r>
            <a:r>
              <a:rPr sz="2600" i="1" spc="5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and</a:t>
            </a:r>
            <a:r>
              <a:rPr sz="2600" i="1" spc="5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dout</a:t>
            </a:r>
            <a:r>
              <a:rPr sz="2600" i="1" spc="5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data</a:t>
            </a:r>
            <a:r>
              <a:rPr sz="2600" i="1" spc="50" dirty="0">
                <a:latin typeface="Arial"/>
                <a:cs typeface="Arial"/>
              </a:rPr>
              <a:t> </a:t>
            </a:r>
            <a:r>
              <a:rPr sz="2600" i="1" spc="-20" dirty="0">
                <a:latin typeface="Arial"/>
                <a:cs typeface="Arial"/>
              </a:rPr>
              <a:t>flow </a:t>
            </a:r>
            <a:r>
              <a:rPr sz="2600" i="1" dirty="0">
                <a:latin typeface="Arial"/>
                <a:cs typeface="Arial"/>
              </a:rPr>
              <a:t>Avoid</a:t>
            </a:r>
            <a:r>
              <a:rPr sz="2600" i="1" spc="57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zeroing</a:t>
            </a:r>
            <a:r>
              <a:rPr sz="2600" i="1" spc="-75" dirty="0">
                <a:latin typeface="Arial"/>
                <a:cs typeface="Arial"/>
              </a:rPr>
              <a:t> </a:t>
            </a:r>
            <a:r>
              <a:rPr sz="2600" i="1" spc="55" dirty="0">
                <a:latin typeface="Arial"/>
                <a:cs typeface="Arial"/>
              </a:rPr>
              <a:t>of</a:t>
            </a:r>
            <a:r>
              <a:rPr sz="2600" i="1" spc="-75" dirty="0">
                <a:latin typeface="Arial"/>
                <a:cs typeface="Arial"/>
              </a:rPr>
              <a:t> </a:t>
            </a:r>
            <a:r>
              <a:rPr sz="2600" i="1" spc="-50" dirty="0">
                <a:latin typeface="Arial"/>
                <a:cs typeface="Arial"/>
              </a:rPr>
              <a:t>necessary</a:t>
            </a:r>
            <a:r>
              <a:rPr sz="2600" i="1" spc="-75" dirty="0">
                <a:latin typeface="Arial"/>
                <a:cs typeface="Arial"/>
              </a:rPr>
              <a:t> </a:t>
            </a:r>
            <a:r>
              <a:rPr sz="2600" i="1" spc="-20" dirty="0">
                <a:latin typeface="Arial"/>
                <a:cs typeface="Arial"/>
              </a:rPr>
              <a:t>data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982" y="2095499"/>
            <a:ext cx="5181600" cy="47053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21282" y="929767"/>
            <a:ext cx="8199755" cy="920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850" b="1" spc="-140" dirty="0">
                <a:latin typeface="Arial"/>
                <a:cs typeface="Arial"/>
              </a:rPr>
              <a:t>Verification</a:t>
            </a:r>
            <a:r>
              <a:rPr sz="5850" b="1" spc="-210" dirty="0">
                <a:latin typeface="Arial"/>
                <a:cs typeface="Arial"/>
              </a:rPr>
              <a:t> </a:t>
            </a:r>
            <a:r>
              <a:rPr sz="5850" b="1" spc="-300" dirty="0">
                <a:latin typeface="Arial"/>
                <a:cs typeface="Arial"/>
              </a:rPr>
              <a:t>&amp;</a:t>
            </a:r>
            <a:r>
              <a:rPr sz="5850" b="1" spc="-190" dirty="0">
                <a:latin typeface="Arial"/>
                <a:cs typeface="Arial"/>
              </a:rPr>
              <a:t> </a:t>
            </a:r>
            <a:r>
              <a:rPr sz="5850" b="1" spc="-204" dirty="0">
                <a:latin typeface="Arial"/>
                <a:cs typeface="Arial"/>
              </a:rPr>
              <a:t>Testbench</a:t>
            </a:r>
            <a:endParaRPr sz="58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74097" y="797020"/>
            <a:ext cx="11983085" cy="8459470"/>
            <a:chOff x="5274097" y="797020"/>
            <a:chExt cx="11983085" cy="84594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4685" y="797020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4685" y="1216120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4685" y="1635220"/>
              <a:ext cx="95250" cy="95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4685" y="2054320"/>
              <a:ext cx="95250" cy="95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4097" y="2769135"/>
              <a:ext cx="6343649" cy="47529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03510" y="3388868"/>
              <a:ext cx="5953124" cy="5867399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0363356" y="559511"/>
            <a:ext cx="6929120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2400" b="0" i="1" spc="-190" dirty="0">
                <a:latin typeface="Arial"/>
                <a:cs typeface="Arial"/>
              </a:rPr>
              <a:t>STEP</a:t>
            </a:r>
            <a:r>
              <a:rPr sz="2400" b="0" i="1" spc="-20" dirty="0">
                <a:latin typeface="Arial"/>
                <a:cs typeface="Arial"/>
              </a:rPr>
              <a:t> </a:t>
            </a:r>
            <a:r>
              <a:rPr sz="2400" b="0" i="1" spc="80" dirty="0">
                <a:latin typeface="Arial"/>
                <a:cs typeface="Arial"/>
              </a:rPr>
              <a:t>1:</a:t>
            </a:r>
            <a:r>
              <a:rPr sz="2400" b="0" i="1" spc="-20" dirty="0">
                <a:latin typeface="Arial"/>
                <a:cs typeface="Arial"/>
              </a:rPr>
              <a:t> </a:t>
            </a:r>
            <a:r>
              <a:rPr sz="2400" b="0" i="1" spc="55" dirty="0">
                <a:latin typeface="Arial"/>
                <a:cs typeface="Arial"/>
              </a:rPr>
              <a:t>Write</a:t>
            </a:r>
            <a:r>
              <a:rPr sz="2400" b="0" i="1" spc="-15" dirty="0">
                <a:latin typeface="Arial"/>
                <a:cs typeface="Arial"/>
              </a:rPr>
              <a:t> </a:t>
            </a:r>
            <a:r>
              <a:rPr sz="2400" b="0" i="1" spc="-45" dirty="0">
                <a:latin typeface="Arial"/>
                <a:cs typeface="Arial"/>
              </a:rPr>
              <a:t>Address</a:t>
            </a:r>
            <a:r>
              <a:rPr sz="2400" b="0" i="1" spc="-20" dirty="0">
                <a:latin typeface="Arial"/>
                <a:cs typeface="Arial"/>
              </a:rPr>
              <a:t> </a:t>
            </a:r>
            <a:r>
              <a:rPr sz="2400" b="0" i="1" spc="-65" dirty="0">
                <a:latin typeface="Arial"/>
                <a:cs typeface="Arial"/>
              </a:rPr>
              <a:t>(0xAA)</a:t>
            </a:r>
            <a:r>
              <a:rPr sz="2400" b="0" i="1" spc="-15" dirty="0">
                <a:latin typeface="Arial"/>
                <a:cs typeface="Arial"/>
              </a:rPr>
              <a:t> </a:t>
            </a:r>
            <a:r>
              <a:rPr sz="2400" b="0" i="1" spc="-30" dirty="0">
                <a:latin typeface="Arial"/>
                <a:cs typeface="Arial"/>
              </a:rPr>
              <a:t>Loaded</a:t>
            </a:r>
            <a:r>
              <a:rPr sz="2400" b="0" i="1" spc="-20" dirty="0">
                <a:latin typeface="Arial"/>
                <a:cs typeface="Arial"/>
              </a:rPr>
              <a:t> </a:t>
            </a:r>
            <a:r>
              <a:rPr sz="2400" b="0" i="1" dirty="0">
                <a:latin typeface="Arial"/>
                <a:cs typeface="Arial"/>
              </a:rPr>
              <a:t>into</a:t>
            </a:r>
            <a:r>
              <a:rPr sz="2400" b="0" i="1" spc="-15" dirty="0">
                <a:latin typeface="Arial"/>
                <a:cs typeface="Arial"/>
              </a:rPr>
              <a:t> </a:t>
            </a:r>
            <a:r>
              <a:rPr sz="2400" b="0" i="1" spc="-10" dirty="0">
                <a:latin typeface="Arial"/>
                <a:cs typeface="Arial"/>
              </a:rPr>
              <a:t>Slave </a:t>
            </a:r>
            <a:r>
              <a:rPr sz="2400" b="0" i="1" spc="-190" dirty="0">
                <a:latin typeface="Arial"/>
                <a:cs typeface="Arial"/>
              </a:rPr>
              <a:t>STEP</a:t>
            </a:r>
            <a:r>
              <a:rPr sz="2400" b="0" i="1" spc="10" dirty="0">
                <a:latin typeface="Arial"/>
                <a:cs typeface="Arial"/>
              </a:rPr>
              <a:t> </a:t>
            </a:r>
            <a:r>
              <a:rPr sz="2400" b="0" i="1" spc="80" dirty="0">
                <a:latin typeface="Arial"/>
                <a:cs typeface="Arial"/>
              </a:rPr>
              <a:t>2:</a:t>
            </a:r>
            <a:r>
              <a:rPr sz="2400" b="0" i="1" spc="10" dirty="0">
                <a:latin typeface="Arial"/>
                <a:cs typeface="Arial"/>
              </a:rPr>
              <a:t> </a:t>
            </a:r>
            <a:r>
              <a:rPr sz="2400" b="0" i="1" spc="55" dirty="0">
                <a:latin typeface="Arial"/>
                <a:cs typeface="Arial"/>
              </a:rPr>
              <a:t>Write</a:t>
            </a:r>
            <a:r>
              <a:rPr sz="2400" b="0" i="1" spc="10" dirty="0">
                <a:latin typeface="Arial"/>
                <a:cs typeface="Arial"/>
              </a:rPr>
              <a:t> </a:t>
            </a:r>
            <a:r>
              <a:rPr sz="2400" b="0" i="1" dirty="0">
                <a:latin typeface="Arial"/>
                <a:cs typeface="Arial"/>
              </a:rPr>
              <a:t>Data</a:t>
            </a:r>
            <a:r>
              <a:rPr sz="2400" b="0" i="1" spc="10" dirty="0">
                <a:latin typeface="Arial"/>
                <a:cs typeface="Arial"/>
              </a:rPr>
              <a:t> </a:t>
            </a:r>
            <a:r>
              <a:rPr sz="2400" b="0" i="1" spc="-25" dirty="0">
                <a:latin typeface="Arial"/>
                <a:cs typeface="Arial"/>
              </a:rPr>
              <a:t>(0x55)</a:t>
            </a:r>
            <a:r>
              <a:rPr sz="2400" b="0" i="1" spc="10" dirty="0">
                <a:latin typeface="Arial"/>
                <a:cs typeface="Arial"/>
              </a:rPr>
              <a:t> </a:t>
            </a:r>
            <a:r>
              <a:rPr sz="2400" b="0" i="1" dirty="0">
                <a:latin typeface="Arial"/>
                <a:cs typeface="Arial"/>
              </a:rPr>
              <a:t>committed</a:t>
            </a:r>
            <a:r>
              <a:rPr sz="2400" b="0" i="1" spc="10" dirty="0">
                <a:latin typeface="Arial"/>
                <a:cs typeface="Arial"/>
              </a:rPr>
              <a:t> </a:t>
            </a:r>
            <a:r>
              <a:rPr sz="2400" b="0" i="1" spc="70" dirty="0">
                <a:latin typeface="Arial"/>
                <a:cs typeface="Arial"/>
              </a:rPr>
              <a:t>to</a:t>
            </a:r>
            <a:r>
              <a:rPr sz="2400" b="0" i="1" spc="10" dirty="0">
                <a:latin typeface="Arial"/>
                <a:cs typeface="Arial"/>
              </a:rPr>
              <a:t> </a:t>
            </a:r>
            <a:r>
              <a:rPr sz="2400" b="0" i="1" spc="-10" dirty="0">
                <a:latin typeface="Arial"/>
                <a:cs typeface="Arial"/>
              </a:rPr>
              <a:t>RAM[xAA] </a:t>
            </a:r>
            <a:r>
              <a:rPr sz="2400" b="0" i="1" spc="-190" dirty="0">
                <a:latin typeface="Arial"/>
                <a:cs typeface="Arial"/>
              </a:rPr>
              <a:t>STEP</a:t>
            </a:r>
            <a:r>
              <a:rPr sz="2400" b="0" i="1" spc="-20" dirty="0">
                <a:latin typeface="Arial"/>
                <a:cs typeface="Arial"/>
              </a:rPr>
              <a:t> </a:t>
            </a:r>
            <a:r>
              <a:rPr sz="2400" b="0" i="1" spc="80" dirty="0">
                <a:latin typeface="Arial"/>
                <a:cs typeface="Arial"/>
              </a:rPr>
              <a:t>3:</a:t>
            </a:r>
            <a:r>
              <a:rPr sz="2400" b="0" i="1" spc="-40" dirty="0">
                <a:latin typeface="Arial"/>
                <a:cs typeface="Arial"/>
              </a:rPr>
              <a:t> </a:t>
            </a:r>
            <a:r>
              <a:rPr sz="2400" b="0" i="1" spc="-85" dirty="0">
                <a:latin typeface="Arial"/>
                <a:cs typeface="Arial"/>
              </a:rPr>
              <a:t>Read</a:t>
            </a:r>
            <a:r>
              <a:rPr sz="2400" b="0" i="1" spc="-30" dirty="0">
                <a:latin typeface="Arial"/>
                <a:cs typeface="Arial"/>
              </a:rPr>
              <a:t> </a:t>
            </a:r>
            <a:r>
              <a:rPr sz="2400" b="0" i="1" spc="-45" dirty="0">
                <a:latin typeface="Arial"/>
                <a:cs typeface="Arial"/>
              </a:rPr>
              <a:t>Address</a:t>
            </a:r>
            <a:r>
              <a:rPr sz="2400" b="0" i="1" spc="-25" dirty="0">
                <a:latin typeface="Arial"/>
                <a:cs typeface="Arial"/>
              </a:rPr>
              <a:t> </a:t>
            </a:r>
            <a:r>
              <a:rPr sz="2400" b="0" i="1" spc="-65" dirty="0">
                <a:latin typeface="Arial"/>
                <a:cs typeface="Arial"/>
              </a:rPr>
              <a:t>(0xAA)</a:t>
            </a:r>
            <a:r>
              <a:rPr sz="2400" b="0" i="1" spc="-30" dirty="0">
                <a:latin typeface="Arial"/>
                <a:cs typeface="Arial"/>
              </a:rPr>
              <a:t> Loaded </a:t>
            </a:r>
            <a:r>
              <a:rPr sz="2400" b="0" i="1" dirty="0">
                <a:latin typeface="Arial"/>
                <a:cs typeface="Arial"/>
              </a:rPr>
              <a:t>into</a:t>
            </a:r>
            <a:r>
              <a:rPr sz="2400" b="0" i="1" spc="-25" dirty="0">
                <a:latin typeface="Arial"/>
                <a:cs typeface="Arial"/>
              </a:rPr>
              <a:t> </a:t>
            </a:r>
            <a:r>
              <a:rPr sz="2400" b="0" i="1" spc="-10" dirty="0">
                <a:latin typeface="Arial"/>
                <a:cs typeface="Arial"/>
              </a:rPr>
              <a:t>Slave </a:t>
            </a:r>
            <a:r>
              <a:rPr sz="2400" b="0" i="1" spc="-190" dirty="0">
                <a:latin typeface="Arial"/>
                <a:cs typeface="Arial"/>
              </a:rPr>
              <a:t>STEP</a:t>
            </a:r>
            <a:r>
              <a:rPr sz="2400" b="0" i="1" spc="-20" dirty="0">
                <a:latin typeface="Arial"/>
                <a:cs typeface="Arial"/>
              </a:rPr>
              <a:t> </a:t>
            </a:r>
            <a:r>
              <a:rPr sz="2400" b="0" i="1" spc="80" dirty="0">
                <a:latin typeface="Arial"/>
                <a:cs typeface="Arial"/>
              </a:rPr>
              <a:t>4:</a:t>
            </a:r>
            <a:r>
              <a:rPr sz="2400" b="0" i="1" spc="-35" dirty="0">
                <a:latin typeface="Arial"/>
                <a:cs typeface="Arial"/>
              </a:rPr>
              <a:t> </a:t>
            </a:r>
            <a:r>
              <a:rPr sz="2400" b="0" i="1" spc="-85" dirty="0">
                <a:latin typeface="Arial"/>
                <a:cs typeface="Arial"/>
              </a:rPr>
              <a:t>Read</a:t>
            </a:r>
            <a:r>
              <a:rPr sz="2400" b="0" i="1" spc="-30" dirty="0">
                <a:latin typeface="Arial"/>
                <a:cs typeface="Arial"/>
              </a:rPr>
              <a:t> </a:t>
            </a:r>
            <a:r>
              <a:rPr sz="2400" b="0" i="1" dirty="0">
                <a:latin typeface="Arial"/>
                <a:cs typeface="Arial"/>
              </a:rPr>
              <a:t>Data</a:t>
            </a:r>
            <a:r>
              <a:rPr sz="2400" b="0" i="1" spc="-25" dirty="0">
                <a:latin typeface="Arial"/>
                <a:cs typeface="Arial"/>
              </a:rPr>
              <a:t> (0x55) </a:t>
            </a:r>
            <a:r>
              <a:rPr sz="2400" b="0" i="1" dirty="0">
                <a:latin typeface="Arial"/>
                <a:cs typeface="Arial"/>
              </a:rPr>
              <a:t>captured</a:t>
            </a:r>
            <a:r>
              <a:rPr sz="2400" b="0" i="1" spc="-30" dirty="0">
                <a:latin typeface="Arial"/>
                <a:cs typeface="Arial"/>
              </a:rPr>
              <a:t> </a:t>
            </a:r>
            <a:r>
              <a:rPr sz="2400" b="0" i="1" dirty="0">
                <a:latin typeface="Arial"/>
                <a:cs typeface="Arial"/>
              </a:rPr>
              <a:t>on</a:t>
            </a:r>
            <a:r>
              <a:rPr sz="2400" b="0" i="1" spc="-25" dirty="0">
                <a:latin typeface="Arial"/>
                <a:cs typeface="Arial"/>
              </a:rPr>
              <a:t> </a:t>
            </a:r>
            <a:r>
              <a:rPr sz="2400" b="0" i="1" spc="-45" dirty="0">
                <a:latin typeface="Arial"/>
                <a:cs typeface="Arial"/>
              </a:rPr>
              <a:t>MISO</a:t>
            </a:r>
            <a:r>
              <a:rPr sz="2400" b="0" i="1" spc="-25" dirty="0">
                <a:latin typeface="Arial"/>
                <a:cs typeface="Arial"/>
              </a:rPr>
              <a:t> </a:t>
            </a:r>
            <a:r>
              <a:rPr sz="2400" b="0" i="1" spc="-20" dirty="0">
                <a:latin typeface="Arial"/>
                <a:cs typeface="Arial"/>
              </a:rPr>
              <a:t>line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982" y="2095499"/>
            <a:ext cx="15821024" cy="68198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40" dirty="0"/>
              <a:t>Verification</a:t>
            </a:r>
            <a:r>
              <a:rPr spc="-210" dirty="0"/>
              <a:t> </a:t>
            </a:r>
            <a:r>
              <a:rPr spc="-300" dirty="0"/>
              <a:t>&amp;</a:t>
            </a:r>
            <a:r>
              <a:rPr spc="-190" dirty="0"/>
              <a:t> </a:t>
            </a:r>
            <a:r>
              <a:rPr spc="-204" dirty="0"/>
              <a:t>Testbench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8691" y="2095499"/>
            <a:ext cx="15963899" cy="67627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40" dirty="0"/>
              <a:t>Verification</a:t>
            </a:r>
            <a:r>
              <a:rPr spc="-210" dirty="0"/>
              <a:t> </a:t>
            </a:r>
            <a:r>
              <a:rPr spc="-300" dirty="0"/>
              <a:t>&amp;</a:t>
            </a:r>
            <a:r>
              <a:rPr spc="-190" dirty="0"/>
              <a:t> </a:t>
            </a:r>
            <a:r>
              <a:rPr spc="-204" dirty="0"/>
              <a:t>Testbench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058" y="2095499"/>
            <a:ext cx="15382872" cy="65722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40" dirty="0"/>
              <a:t>Verification</a:t>
            </a:r>
            <a:r>
              <a:rPr spc="-210" dirty="0"/>
              <a:t> </a:t>
            </a:r>
            <a:r>
              <a:rPr spc="-300" dirty="0"/>
              <a:t>&amp;</a:t>
            </a:r>
            <a:r>
              <a:rPr spc="-190" dirty="0"/>
              <a:t> </a:t>
            </a:r>
            <a:r>
              <a:rPr spc="-204" dirty="0"/>
              <a:t>Testbench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236" y="2095499"/>
            <a:ext cx="15792449" cy="6705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40" dirty="0"/>
              <a:t>Verification</a:t>
            </a:r>
            <a:r>
              <a:rPr spc="-210" dirty="0"/>
              <a:t> </a:t>
            </a:r>
            <a:r>
              <a:rPr spc="-300" dirty="0"/>
              <a:t>&amp;</a:t>
            </a:r>
            <a:r>
              <a:rPr spc="-190" dirty="0"/>
              <a:t> </a:t>
            </a:r>
            <a:r>
              <a:rPr spc="-204" dirty="0"/>
              <a:t>Testbench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6665" y="2095499"/>
            <a:ext cx="15706724" cy="66960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40" dirty="0"/>
              <a:t>Verification</a:t>
            </a:r>
            <a:r>
              <a:rPr spc="-210" dirty="0"/>
              <a:t> </a:t>
            </a:r>
            <a:r>
              <a:rPr spc="-300" dirty="0"/>
              <a:t>&amp;</a:t>
            </a:r>
            <a:r>
              <a:rPr spc="-190" dirty="0"/>
              <a:t> </a:t>
            </a:r>
            <a:r>
              <a:rPr spc="-204" dirty="0"/>
              <a:t>Testbench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982" y="2095499"/>
            <a:ext cx="15821024" cy="67151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40" dirty="0"/>
              <a:t>Verification</a:t>
            </a:r>
            <a:r>
              <a:rPr spc="-210" dirty="0"/>
              <a:t> </a:t>
            </a:r>
            <a:r>
              <a:rPr spc="-300" dirty="0"/>
              <a:t>&amp;</a:t>
            </a:r>
            <a:r>
              <a:rPr spc="-190" dirty="0"/>
              <a:t> </a:t>
            </a:r>
            <a:r>
              <a:rPr spc="-204" dirty="0"/>
              <a:t>Testbench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7138" y="1917891"/>
            <a:ext cx="12239625" cy="71056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40" dirty="0"/>
              <a:t>Verification</a:t>
            </a:r>
            <a:r>
              <a:rPr spc="-210" dirty="0"/>
              <a:t> </a:t>
            </a:r>
            <a:r>
              <a:rPr spc="-300" dirty="0"/>
              <a:t>&amp;</a:t>
            </a:r>
            <a:r>
              <a:rPr spc="-190" dirty="0"/>
              <a:t> </a:t>
            </a:r>
            <a:r>
              <a:rPr spc="-204" dirty="0"/>
              <a:t>Testbench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441305"/>
              </p:ext>
            </p:extLst>
          </p:nvPr>
        </p:nvGraphicFramePr>
        <p:xfrm>
          <a:off x="2438400" y="3177540"/>
          <a:ext cx="13947140" cy="393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73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3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0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25"/>
                        </a:spcBef>
                      </a:pPr>
                      <a:r>
                        <a:rPr sz="3100" spc="-70" dirty="0">
                          <a:latin typeface="Arial Black"/>
                          <a:cs typeface="Arial Black"/>
                        </a:rPr>
                        <a:t>Feature</a:t>
                      </a:r>
                      <a:endParaRPr sz="3100">
                        <a:latin typeface="Arial Black"/>
                        <a:cs typeface="Arial Black"/>
                      </a:endParaRPr>
                    </a:p>
                  </a:txBody>
                  <a:tcPr marL="0" marR="0" marT="396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25"/>
                        </a:spcBef>
                      </a:pPr>
                      <a:r>
                        <a:rPr sz="3100" spc="-30" dirty="0">
                          <a:latin typeface="Arial Black"/>
                          <a:cs typeface="Arial Black"/>
                        </a:rPr>
                        <a:t>Benefit</a:t>
                      </a:r>
                      <a:endParaRPr sz="3100">
                        <a:latin typeface="Arial Black"/>
                        <a:cs typeface="Arial Black"/>
                      </a:endParaRPr>
                    </a:p>
                  </a:txBody>
                  <a:tcPr marL="0" marR="0" marT="396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25"/>
                        </a:spcBef>
                      </a:pPr>
                      <a:r>
                        <a:rPr sz="3100" spc="-170" dirty="0">
                          <a:latin typeface="Arial Black"/>
                          <a:cs typeface="Arial Black"/>
                        </a:rPr>
                        <a:t>Four</a:t>
                      </a:r>
                      <a:r>
                        <a:rPr sz="3100" spc="-28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3100" spc="-270" dirty="0">
                          <a:latin typeface="Arial Black"/>
                          <a:cs typeface="Arial Black"/>
                        </a:rPr>
                        <a:t>SPI</a:t>
                      </a:r>
                      <a:r>
                        <a:rPr sz="3100" spc="-28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3100" spc="-20" dirty="0">
                          <a:latin typeface="Arial Black"/>
                          <a:cs typeface="Arial Black"/>
                        </a:rPr>
                        <a:t>Modes</a:t>
                      </a:r>
                      <a:endParaRPr sz="3100">
                        <a:latin typeface="Arial Black"/>
                        <a:cs typeface="Arial Black"/>
                      </a:endParaRPr>
                    </a:p>
                  </a:txBody>
                  <a:tcPr marL="0" marR="0" marT="396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25"/>
                        </a:spcBef>
                      </a:pPr>
                      <a:r>
                        <a:rPr sz="3100" spc="-160" dirty="0">
                          <a:latin typeface="Arial Black"/>
                          <a:cs typeface="Arial Black"/>
                        </a:rPr>
                        <a:t>Full</a:t>
                      </a:r>
                      <a:r>
                        <a:rPr sz="3100" spc="-27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3100" spc="-75" dirty="0">
                          <a:latin typeface="Arial Black"/>
                          <a:cs typeface="Arial Black"/>
                        </a:rPr>
                        <a:t>compatibility</a:t>
                      </a:r>
                      <a:endParaRPr sz="3100">
                        <a:latin typeface="Arial Black"/>
                        <a:cs typeface="Arial Black"/>
                      </a:endParaRPr>
                    </a:p>
                  </a:txBody>
                  <a:tcPr marL="0" marR="0" marT="396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25"/>
                        </a:spcBef>
                      </a:pPr>
                      <a:r>
                        <a:rPr sz="3100" spc="-130" dirty="0">
                          <a:latin typeface="Arial Black"/>
                          <a:cs typeface="Arial Black"/>
                        </a:rPr>
                        <a:t>Multiple</a:t>
                      </a:r>
                      <a:r>
                        <a:rPr sz="3100" spc="-26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3100" spc="-70" dirty="0">
                          <a:latin typeface="Arial Black"/>
                          <a:cs typeface="Arial Black"/>
                        </a:rPr>
                        <a:t>Slaves</a:t>
                      </a:r>
                      <a:endParaRPr sz="3100">
                        <a:latin typeface="Arial Black"/>
                        <a:cs typeface="Arial Black"/>
                      </a:endParaRPr>
                    </a:p>
                  </a:txBody>
                  <a:tcPr marL="0" marR="0" marT="396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25"/>
                        </a:spcBef>
                      </a:pPr>
                      <a:r>
                        <a:rPr sz="3100" spc="-235" dirty="0">
                          <a:latin typeface="Arial Black"/>
                          <a:cs typeface="Arial Black"/>
                        </a:rPr>
                        <a:t>Larger</a:t>
                      </a:r>
                      <a:r>
                        <a:rPr sz="3100" spc="-27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3100" spc="-270" dirty="0">
                          <a:latin typeface="Arial Black"/>
                          <a:cs typeface="Arial Black"/>
                        </a:rPr>
                        <a:t>SPI</a:t>
                      </a:r>
                      <a:r>
                        <a:rPr sz="3100" spc="-27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3100" spc="-25" dirty="0">
                          <a:latin typeface="Arial Black"/>
                          <a:cs typeface="Arial Black"/>
                        </a:rPr>
                        <a:t>bus</a:t>
                      </a:r>
                      <a:endParaRPr sz="3100" dirty="0">
                        <a:latin typeface="Arial Black"/>
                        <a:cs typeface="Arial Black"/>
                      </a:endParaRPr>
                    </a:p>
                  </a:txBody>
                  <a:tcPr marL="0" marR="0" marT="396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80" dirty="0"/>
              <a:t>Future</a:t>
            </a:r>
            <a:r>
              <a:rPr spc="-295" dirty="0"/>
              <a:t> </a:t>
            </a:r>
            <a:r>
              <a:rPr spc="-200" dirty="0"/>
              <a:t>improvements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AE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843" y="232422"/>
            <a:ext cx="17510132" cy="984499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84602" y="3797008"/>
            <a:ext cx="1124966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b="0" spc="-30" dirty="0">
                <a:solidFill>
                  <a:srgbClr val="04092F"/>
                </a:solidFill>
                <a:latin typeface="Arial MT"/>
                <a:cs typeface="Arial MT"/>
              </a:rPr>
              <a:t>Thank</a:t>
            </a:r>
            <a:r>
              <a:rPr sz="8800" b="0" spc="-430" dirty="0">
                <a:solidFill>
                  <a:srgbClr val="04092F"/>
                </a:solidFill>
                <a:latin typeface="Arial MT"/>
                <a:cs typeface="Arial MT"/>
              </a:rPr>
              <a:t> </a:t>
            </a:r>
            <a:r>
              <a:rPr sz="8800" b="0" dirty="0">
                <a:solidFill>
                  <a:srgbClr val="04092F"/>
                </a:solidFill>
                <a:latin typeface="Arial MT"/>
                <a:cs typeface="Arial MT"/>
              </a:rPr>
              <a:t>you</a:t>
            </a:r>
            <a:r>
              <a:rPr sz="8800" b="0" spc="-430" dirty="0">
                <a:solidFill>
                  <a:srgbClr val="04092F"/>
                </a:solidFill>
                <a:latin typeface="Arial MT"/>
                <a:cs typeface="Arial MT"/>
              </a:rPr>
              <a:t> </a:t>
            </a:r>
            <a:r>
              <a:rPr sz="8800" b="0" spc="290" dirty="0">
                <a:solidFill>
                  <a:srgbClr val="04092F"/>
                </a:solidFill>
                <a:latin typeface="Arial MT"/>
                <a:cs typeface="Arial MT"/>
              </a:rPr>
              <a:t>for</a:t>
            </a:r>
            <a:r>
              <a:rPr sz="8800" b="0" spc="-430" dirty="0">
                <a:solidFill>
                  <a:srgbClr val="04092F"/>
                </a:solidFill>
                <a:latin typeface="Arial MT"/>
                <a:cs typeface="Arial MT"/>
              </a:rPr>
              <a:t> </a:t>
            </a:r>
            <a:r>
              <a:rPr sz="8800" b="0" spc="-10" dirty="0">
                <a:solidFill>
                  <a:srgbClr val="04092F"/>
                </a:solidFill>
                <a:latin typeface="Arial MT"/>
                <a:cs typeface="Arial MT"/>
              </a:rPr>
              <a:t>listening</a:t>
            </a:r>
            <a:endParaRPr sz="8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Words>442</Words>
  <Application>Microsoft Office PowerPoint</Application>
  <PresentationFormat>Custom</PresentationFormat>
  <Paragraphs>107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Arial Black</vt:lpstr>
      <vt:lpstr>Arial MT</vt:lpstr>
      <vt:lpstr>Wingdings</vt:lpstr>
      <vt:lpstr>Office Theme</vt:lpstr>
      <vt:lpstr>National Telecommunication institute</vt:lpstr>
      <vt:lpstr>Team members</vt:lpstr>
      <vt:lpstr>What is SPI?</vt:lpstr>
      <vt:lpstr>MOSI – Master Out Slave In MISO – Master In Slave Out SCLK – Serial Clock generated by the master CS – Chip Select (active low)</vt:lpstr>
      <vt:lpstr>SPI Modes</vt:lpstr>
      <vt:lpstr>SPI Timing</vt:lpstr>
      <vt:lpstr>Master Specifications</vt:lpstr>
      <vt:lpstr>Master Algorithm &amp; FSM</vt:lpstr>
      <vt:lpstr>Clock Divider</vt:lpstr>
      <vt:lpstr> Slave &amp; RAM  1.Block Diagram &amp;Ports 2.RAM Size 3.FSM 4.Algorithm 5.Simulation </vt:lpstr>
      <vt:lpstr>Block Diagram &amp; Ports</vt:lpstr>
      <vt:lpstr>RAM Size  Data Width = 8 Memort Depth = 256</vt:lpstr>
      <vt:lpstr>FSM </vt:lpstr>
      <vt:lpstr>Algorithm  write_addr write_data read_addr read_data </vt:lpstr>
      <vt:lpstr>Simulation  1.Write Address</vt:lpstr>
      <vt:lpstr>Write Data</vt:lpstr>
      <vt:lpstr>Write Data</vt:lpstr>
      <vt:lpstr>Read Address</vt:lpstr>
      <vt:lpstr>Read Data</vt:lpstr>
      <vt:lpstr>Integration</vt:lpstr>
      <vt:lpstr>STEP 1: Write Address (0xAA) Loaded into Slave STEP 2: Write Data (0x55) committed to RAM[xAA] STEP 3: Read Address (0xAA) Loaded into Slave STEP 4: Read Data (0x55) captured on MISO line</vt:lpstr>
      <vt:lpstr>Verification &amp; Testbench</vt:lpstr>
      <vt:lpstr>Verification &amp; Testbench</vt:lpstr>
      <vt:lpstr>Verification &amp; Testbench</vt:lpstr>
      <vt:lpstr>Verification &amp; Testbench</vt:lpstr>
      <vt:lpstr>Verification &amp; Testbench</vt:lpstr>
      <vt:lpstr>Verification &amp; Testbench</vt:lpstr>
      <vt:lpstr>Verification &amp; Testbench</vt:lpstr>
      <vt:lpstr>Future improvements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Gates Presentation in Blue Clean Style</dc:title>
  <dc:creator>Esther</dc:creator>
  <cp:keywords>DAHRX8eXZP0,BAGwbxo4ubg</cp:keywords>
  <cp:lastModifiedBy>رضوى احمد عبدالستار على عبدالعال</cp:lastModifiedBy>
  <cp:revision>2</cp:revision>
  <dcterms:created xsi:type="dcterms:W3CDTF">2026-08-06T08:05:56Z</dcterms:created>
  <dcterms:modified xsi:type="dcterms:W3CDTF">2026-08-06T13:00:26Z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2026-08-06T00:00:00Z</vt:filetime>
  </property>
  <property fmtid="{D5CDD505-2E9C-101B-9397-08002B2CF9AE}" pid="4" name="Creator">
    <vt:lpwstr>Canva</vt:lpwstr>
  </property>
  <property fmtid="{D5CDD505-2E9C-101B-9397-08002B2CF9AE}" pid="5" name="LastSaved">
    <vt:filetime>2026-08-06T00:00:00Z</vt:filetime>
  </property>
  <property fmtid="{D5CDD505-2E9C-101B-9397-08002B2CF9AE}" pid="6" name="Producer">
    <vt:lpwstr>Canva</vt:lpwstr>
  </property>
</Properties>
</file>